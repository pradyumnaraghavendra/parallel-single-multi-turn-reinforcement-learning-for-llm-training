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embeddedFontLst>
    <p:embeddedFont>
      <p:font typeface="Nunito"/>
      <p:regular r:id="rId29"/>
      <p:bold r:id="rId30"/>
      <p:italic r:id="rId31"/>
      <p:boldItalic r:id="rId32"/>
    </p:embeddedFont>
    <p:embeddedFont>
      <p:font typeface="Maven Pro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8198AA-F151-47F1-AE68-450AB290BD95}">
  <a:tblStyle styleId="{318198AA-F151-47F1-AE68-450AB290BD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5.xml"/><Relationship Id="rId33" Type="http://schemas.openxmlformats.org/officeDocument/2006/relationships/font" Target="fonts/MavenPro-regular.fntdata"/><Relationship Id="rId10" Type="http://schemas.openxmlformats.org/officeDocument/2006/relationships/slide" Target="slides/slide4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MavenPr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bb3e6fa07_0_4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abb3e6fa07_0_4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bb3e6fa07_0_4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abb3e6fa07_0_4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bb3e6fa07_0_4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abb3e6fa07_0_4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bb3e6fa07_0_4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abb3e6fa07_0_4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bb3e6fa07_0_4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abb3e6fa07_0_4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bb3e6fa07_0_4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abb3e6fa07_0_4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bb3e6fa07_0_4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abb3e6fa07_0_4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bb3e6fa07_0_4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abb3e6fa07_0_4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bb3e6fa07_0_4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bb3e6fa07_0_4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4546120"/>
            <a:ext cx="1691422" cy="2310006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5118675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2151750"/>
            <a:ext cx="4255500" cy="24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4795067"/>
            <a:ext cx="42555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4541"/>
            <a:ext cx="1233215" cy="1846001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3871914"/>
            <a:ext cx="2186148" cy="2985925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2151767"/>
            <a:ext cx="5857800" cy="24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399168"/>
            <a:ext cx="999312" cy="1332416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798100"/>
            <a:ext cx="70305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2653400"/>
            <a:ext cx="7030500" cy="3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399168"/>
            <a:ext cx="999312" cy="1332416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798100"/>
            <a:ext cx="70305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2653400"/>
            <a:ext cx="3430500" cy="3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2653400"/>
            <a:ext cx="3430500" cy="3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399168"/>
            <a:ext cx="999312" cy="1332416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798100"/>
            <a:ext cx="7030500" cy="13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399168"/>
            <a:ext cx="999312" cy="1332416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798100"/>
            <a:ext cx="3312000" cy="21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3079567"/>
            <a:ext cx="3312000" cy="29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742"/>
            <a:ext cx="2267451" cy="3468833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1018133"/>
            <a:ext cx="5857800" cy="47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399168"/>
            <a:ext cx="999312" cy="1332416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798100"/>
            <a:ext cx="3430500" cy="2653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3657604"/>
            <a:ext cx="3430500" cy="968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881333"/>
            <a:ext cx="3430500" cy="5160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5129497"/>
            <a:ext cx="825392" cy="1100560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5518633"/>
            <a:ext cx="5843100" cy="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5465463"/>
            <a:ext cx="9144036" cy="1392365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1030300"/>
            <a:ext cx="6366900" cy="24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3616400"/>
            <a:ext cx="6366900" cy="1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6315968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7E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/>
        </p:nvSpPr>
        <p:spPr>
          <a:xfrm>
            <a:off x="457200" y="182880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457200" y="301752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457200" y="4572000"/>
            <a:ext cx="822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4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Nikhil Pandey and Pradyumna Raghavendra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 txBox="1"/>
          <p:nvPr>
            <p:ph type="ctrTitle"/>
          </p:nvPr>
        </p:nvSpPr>
        <p:spPr>
          <a:xfrm>
            <a:off x="627300" y="734100"/>
            <a:ext cx="8059500" cy="24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Parallel Single/Multi-Turn Reinforcement Learning for LLM Agent Training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 txBox="1"/>
          <p:nvPr>
            <p:ph idx="1" type="subTitle"/>
          </p:nvPr>
        </p:nvSpPr>
        <p:spPr>
          <a:xfrm>
            <a:off x="2333300" y="3963007"/>
            <a:ext cx="42555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640075" y="1280150"/>
            <a:ext cx="4126200" cy="50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Training LLMs with RL is computationally expensive</a:t>
            </a:r>
            <a:b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Parallelize using PyTorch Distributed Data Parallel (DDP)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23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4885325" y="1280150"/>
            <a:ext cx="4258800" cy="48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• Reduce training time while maintaining accuracy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KEY RESULT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• 51 min → 31 min (1.63× speedup, 81.5% efficiency)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225075" y="1323950"/>
            <a:ext cx="3932100" cy="50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RESEARCH </a:t>
            </a:r>
            <a:r>
              <a:rPr b="1"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PAPER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Incentivizing Reasoning Capability in LLMs via Reinforcement Learning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- DeepSeek- R1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23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KEY INNOVATION:</a:t>
            </a: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A*PO ALGORITHM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A* = Advantage-weighted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PO = Policy Optimization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23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4395475" y="1284150"/>
            <a:ext cx="3680700" cy="42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THREE COMPONENTS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1. Policy Model (π): Generates actions (text)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2. Reference Model (π_ref): Provides stability via KL divergence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3. Value Function (V*): Estimates expected reward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LOSS FORMULA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Loss = -E[A(s,a) · log π(a|s)] + β · KL(π || π_ref)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640080" y="1280160"/>
            <a:ext cx="7863900" cy="54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MODEL SPECIFICATIONS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Base Model: Qwen2.5-3B (3 billion parameters)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Size: 12 GB model weights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Memory: 35 GB per GPU (with activations)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23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TRAINING CONFIGURATION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Optimizer: 8-bit AdamW (memory-efficient)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Batch Size: 4 (baseline) / 2 per GPU (DDP)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Gradient Accumulation: 4 steps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Effective Batch: 16 (constant)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23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DDP Works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640080" y="1280160"/>
            <a:ext cx="78639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Replicate model on each GPU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Split data across GPUs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Synchronize gradients after backward pass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Policy model: Wrapped with DDP (synchronized)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Reference model: NOT wrapped (frozen, independent copies)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17" title="1_a-qXoGgYJ8MnqtUcxgwz-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650" y="3429000"/>
            <a:ext cx="6548619" cy="323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Configuration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18"/>
          <p:cNvGraphicFramePr/>
          <p:nvPr/>
        </p:nvGraphicFramePr>
        <p:xfrm>
          <a:off x="70628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{318198AA-F151-47F1-AE68-450AB290BD95}</a:tableStyleId>
              </a:tblPr>
              <a:tblGrid>
                <a:gridCol w="1572775"/>
                <a:gridCol w="1572775"/>
                <a:gridCol w="1572775"/>
                <a:gridCol w="1572775"/>
                <a:gridCol w="1572775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CPU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GPU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GPUs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GPUs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CPU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1× H100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2× H100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4× H100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hours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 min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 min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min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Batch/GPU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N/A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Effective Batch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N/A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Steps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V* Samples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Accuracy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84%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76%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82%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/>
        </p:nvSpPr>
        <p:spPr>
          <a:xfrm>
            <a:off x="132400" y="274325"/>
            <a:ext cx="88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Performance Results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6" name="Google Shape;326;p19"/>
          <p:cNvGraphicFramePr/>
          <p:nvPr/>
        </p:nvGraphicFramePr>
        <p:xfrm>
          <a:off x="64008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{318198AA-F151-47F1-AE68-450AB290BD95}</a:tableStyleId>
              </a:tblPr>
              <a:tblGrid>
                <a:gridCol w="1572775"/>
                <a:gridCol w="1572775"/>
                <a:gridCol w="1572775"/>
                <a:gridCol w="2089100"/>
                <a:gridCol w="1400675"/>
              </a:tblGrid>
              <a:tr h="653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CPU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GPU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GPUs 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GPUs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240 min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 min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 min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~20 min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Speedup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0.21×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1.00×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1.63×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~2.5×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Efficiency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81.5%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~62.5%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653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$3.40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$4.16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$5.33</a:t>
                      </a:r>
                      <a:endParaRPr sz="2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Results- 1 GPU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640080" y="128016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0360"/>
            <a:ext cx="8839198" cy="470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Results-</a:t>
            </a:r>
            <a:r>
              <a:rPr b="1" lang="en-US" sz="3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 2 GPUs</a:t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640080" y="128016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0360"/>
            <a:ext cx="8839201" cy="4751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Results- </a:t>
            </a:r>
            <a:r>
              <a:rPr b="1" lang="en-US" sz="3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4 GPUs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640080" y="128016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0" name="Google Shape;3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0150"/>
            <a:ext cx="8839200" cy="236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837900"/>
            <a:ext cx="8839200" cy="286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 Analysis - Model Size Matters!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457200" y="2814700"/>
            <a:ext cx="4679700" cy="29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1: Model 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→ 3.5B params ÷ 4 GPUs = Poor utilization</a:t>
            </a:r>
            <a:endParaRPr i="0" sz="23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Problem 2: Reward Degradation → V* sampling needs coherent batches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5136900" y="2650300"/>
            <a:ext cx="3667200" cy="3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Problem 3: Diminishing Returns → 28% more cost, only 11 min faster, 30% worse accuracy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Problem 4: Communication Overhead → More GPUs = more AllReduce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2158025" y="1654925"/>
            <a:ext cx="49779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Why not DDP with 4 GPUs?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1403375" y="5375200"/>
            <a:ext cx="325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4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Progression and Accuracy difference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640080" y="128016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24" title="Screenshot 2025-11-30 at 9.29.27 PM.png"/>
          <p:cNvPicPr preferRelativeResize="0"/>
          <p:nvPr/>
        </p:nvPicPr>
        <p:blipFill rotWithShape="1">
          <a:blip r:embed="rId3">
            <a:alphaModFix/>
          </a:blip>
          <a:srcRect b="0" l="1690" r="0" t="-4723"/>
          <a:stretch/>
        </p:blipFill>
        <p:spPr>
          <a:xfrm>
            <a:off x="152400" y="1085622"/>
            <a:ext cx="8839201" cy="470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5"/>
          <p:cNvSpPr txBox="1"/>
          <p:nvPr/>
        </p:nvSpPr>
        <p:spPr>
          <a:xfrm>
            <a:off x="457200" y="274320"/>
            <a:ext cx="822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Time, GPU Memory, Accuracy and Costs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 txBox="1"/>
          <p:nvPr/>
        </p:nvSpPr>
        <p:spPr>
          <a:xfrm>
            <a:off x="640080" y="128016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25" title="Screenshot 2025-11-30 at 9.29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0000"/>
            <a:ext cx="8718399" cy="57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"/>
          <p:cNvSpPr txBox="1"/>
          <p:nvPr/>
        </p:nvSpPr>
        <p:spPr>
          <a:xfrm>
            <a:off x="457200" y="274320"/>
            <a:ext cx="822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 txBox="1"/>
          <p:nvPr/>
        </p:nvSpPr>
        <p:spPr>
          <a:xfrm>
            <a:off x="640080" y="1280160"/>
            <a:ext cx="786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26" title="Screenshot 2025-11-30 at 9.30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00" y="1284225"/>
            <a:ext cx="8764474" cy="49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"/>
          <p:cNvSpPr txBox="1"/>
          <p:nvPr/>
        </p:nvSpPr>
        <p:spPr>
          <a:xfrm>
            <a:off x="457200" y="27432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Technical Insights</a:t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 txBox="1"/>
          <p:nvPr/>
        </p:nvSpPr>
        <p:spPr>
          <a:xfrm>
            <a:off x="145625" y="1310700"/>
            <a:ext cx="4527900" cy="6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1. DDP IS HIGHLY EFFECTIVE FOR RL TRAINING                           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 • 81.5% efficiency is excellent for 2 GPUs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 • NCCL backend minimizes communication overhead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latin typeface="Calibri"/>
                <a:ea typeface="Calibri"/>
                <a:cs typeface="Calibri"/>
                <a:sym typeface="Calibri"/>
              </a:rPr>
              <a:t>2. MEMORY OPTIMIZATION IS CRITICAL</a:t>
            </a:r>
            <a:endParaRPr b="1"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latin typeface="Calibri"/>
                <a:ea typeface="Calibri"/>
                <a:cs typeface="Calibri"/>
                <a:sym typeface="Calibri"/>
              </a:rPr>
              <a:t>  • Gradient checkpointing essential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latin typeface="Calibri"/>
                <a:ea typeface="Calibri"/>
                <a:cs typeface="Calibri"/>
                <a:sym typeface="Calibri"/>
              </a:rPr>
              <a:t>  • 8-bit optimizers enable larger models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latin typeface="Calibri"/>
                <a:ea typeface="Calibri"/>
                <a:cs typeface="Calibri"/>
                <a:sym typeface="Calibri"/>
              </a:rPr>
              <a:t>  • V* sampling is memory-intensive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93" name="Google Shape;393;p27"/>
          <p:cNvSpPr txBox="1"/>
          <p:nvPr/>
        </p:nvSpPr>
        <p:spPr>
          <a:xfrm>
            <a:off x="4572000" y="1191550"/>
            <a:ext cx="4417500" cy="51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3. SELECTIVE PARALLELIZATION</a:t>
            </a:r>
            <a:endParaRPr b="1"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 • Policy model: DDP (synchronized)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 •  Reference model: Independent copies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 • Know what to parallelize!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br>
              <a:rPr lang="en-US" sz="1900">
                <a:latin typeface="Calibri"/>
                <a:ea typeface="Calibri"/>
                <a:cs typeface="Calibri"/>
                <a:sym typeface="Calibri"/>
              </a:rPr>
            </a:b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4. CLOUD PLATFORMS ENABLE RAPID EXPERIMENTATION</a:t>
            </a:r>
            <a:endParaRPr b="1"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 • Modal: Easy GPU provisioning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 • Persistent volumes for checkpoints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 • Cost-effective for prototyping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Next Steps &amp; Key Takeaways</a:t>
            </a:r>
            <a:endParaRPr/>
          </a:p>
        </p:txBody>
      </p:sp>
      <p:sp>
        <p:nvSpPr>
          <p:cNvPr id="399" name="Google Shape;399;p28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8"/>
          <p:cNvSpPr txBox="1"/>
          <p:nvPr/>
        </p:nvSpPr>
        <p:spPr>
          <a:xfrm>
            <a:off x="688450" y="1005850"/>
            <a:ext cx="80895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KEY LESSON: MODEL SIZE DICTATES GPU COUNT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&lt; 3B params         1-2 GPUs      Overhead dominates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3-7B params         2 GPUs      Sweet spot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7-13B params        2-4 GPUs     Start benefiting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13B+ params         4-8 GPUs      FSDP needed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70B+ params         8+ GPUs       Pipeline parallel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8"/>
          <p:cNvSpPr txBox="1"/>
          <p:nvPr/>
        </p:nvSpPr>
        <p:spPr>
          <a:xfrm>
            <a:off x="635475" y="4435175"/>
            <a:ext cx="7758300" cy="22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Proved 2 GPU optimal for 3.5B model (81.5% efficiency)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• Shared V* Cache across GPUs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• Mixed Precision (BF16) for memory savings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9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Detailed Training Progression </a:t>
            </a:r>
            <a:endParaRPr/>
          </a:p>
        </p:txBody>
      </p:sp>
      <p:sp>
        <p:nvSpPr>
          <p:cNvPr id="407" name="Google Shape;407;p29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8" name="Google Shape;408;p29"/>
          <p:cNvGraphicFramePr/>
          <p:nvPr/>
        </p:nvGraphicFramePr>
        <p:xfrm>
          <a:off x="64008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{318198AA-F151-47F1-AE68-450AB290BD95}</a:tableStyleId>
              </a:tblPr>
              <a:tblGrid>
                <a:gridCol w="1572775"/>
                <a:gridCol w="1572775"/>
                <a:gridCol w="1572775"/>
                <a:gridCol w="1572775"/>
                <a:gridCol w="157277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Baseline Loss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DDP Loss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Baseline Reward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DDP Reward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37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1.9041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1.3531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0.500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1.000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1.2745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0.8982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0.550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0.700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0.9745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0.4793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0.600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0.6496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0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DDP Communication Overhead </a:t>
            </a:r>
            <a:endParaRPr/>
          </a:p>
        </p:txBody>
      </p:sp>
      <p:sp>
        <p:nvSpPr>
          <p:cNvPr id="414" name="Google Shape;414;p30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0"/>
          <p:cNvSpPr txBox="1"/>
          <p:nvPr/>
        </p:nvSpPr>
        <p:spPr>
          <a:xfrm>
            <a:off x="640080" y="1280160"/>
            <a:ext cx="7863900" cy="55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NCCL ALLREDUCE PERFORMANCE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Bandwidth: ~200 GB/s (H100 NVLink)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Gradient size: 12 GB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Expected time: 60 ms per step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2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MEASURED OVERHEAD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Average: 100 ms per step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Includes: synchronization + data transfer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Percentage: ~3% of total step time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2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OPTIMIZATION POTENTIAL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Gradient compression (FP16): 2× reduction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• Overlap compute + communication: Hide latency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 txBox="1"/>
          <p:nvPr/>
        </p:nvSpPr>
        <p:spPr>
          <a:xfrm>
            <a:off x="457200" y="274320"/>
            <a:ext cx="822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Summary &amp; Conclusion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1"/>
          <p:cNvSpPr txBox="1"/>
          <p:nvPr/>
        </p:nvSpPr>
        <p:spPr>
          <a:xfrm>
            <a:off x="684000" y="2405500"/>
            <a:ext cx="8460000" cy="27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 CPU (4h) → 1 GPU (51m) = 4.7× speedup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DDP: 1 GPU → 2 GPUs = 1.63× speedup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81.5% parallel efficiency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38.5% reduction in training time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Proved 2 GPU optimal for 3.5B models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Complete A*PO implementation on Modal Cloud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31"/>
          <p:cNvSpPr txBox="1"/>
          <p:nvPr/>
        </p:nvSpPr>
        <p:spPr>
          <a:xfrm>
            <a:off x="4572000" y="1280150"/>
            <a:ext cx="4395600" cy="3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4" name="Google Shape;424;p31"/>
          <p:cNvSpPr txBox="1"/>
          <p:nvPr/>
        </p:nvSpPr>
        <p:spPr>
          <a:xfrm>
            <a:off x="569300" y="4541100"/>
            <a:ext cx="8229600" cy="21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2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&amp; </a:t>
            </a:r>
            <a:r>
              <a:rPr b="1" lang="en-US" sz="3200">
                <a:solidFill>
                  <a:srgbClr val="1A23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2"/>
          <p:cNvSpPr txBox="1"/>
          <p:nvPr/>
        </p:nvSpPr>
        <p:spPr>
          <a:xfrm>
            <a:off x="342000" y="2312825"/>
            <a:ext cx="8460000" cy="3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1. DDP parallelization of A*PO algorithm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2. Memory-optimized training (8-bit AdamW + checkpointing)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3. Empirical analysis: CPU, 1, 2, 4 GPUs tested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4. Key finding: Model size determines optimal GPU count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32"/>
          <p:cNvSpPr txBox="1"/>
          <p:nvPr/>
        </p:nvSpPr>
        <p:spPr>
          <a:xfrm>
            <a:off x="4572000" y="1280150"/>
            <a:ext cx="4395600" cy="3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3" name="Google Shape;433;p32"/>
          <p:cNvSpPr txBox="1"/>
          <p:nvPr/>
        </p:nvSpPr>
        <p:spPr>
          <a:xfrm>
            <a:off x="569300" y="4541100"/>
            <a:ext cx="8229600" cy="21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3"/>
          <p:cNvSpPr txBox="1"/>
          <p:nvPr/>
        </p:nvSpPr>
        <p:spPr>
          <a:xfrm>
            <a:off x="457200" y="274320"/>
            <a:ext cx="822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Summary &amp; Conclusion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1A2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457200" y="1005840"/>
            <a:ext cx="8229600" cy="45600"/>
          </a:xfrm>
          <a:prstGeom prst="rect">
            <a:avLst/>
          </a:prstGeom>
          <a:solidFill>
            <a:srgbClr val="00897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3"/>
          <p:cNvSpPr txBox="1"/>
          <p:nvPr/>
        </p:nvSpPr>
        <p:spPr>
          <a:xfrm>
            <a:off x="344225" y="1280150"/>
            <a:ext cx="57327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0" sz="2300" u="none" cap="none" strike="noStrike">
              <a:solidFill>
                <a:srgbClr val="4242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33"/>
          <p:cNvSpPr txBox="1"/>
          <p:nvPr/>
        </p:nvSpPr>
        <p:spPr>
          <a:xfrm>
            <a:off x="4572000" y="1280150"/>
            <a:ext cx="4395600" cy="3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2" name="Google Shape;442;p33"/>
          <p:cNvSpPr txBox="1"/>
          <p:nvPr/>
        </p:nvSpPr>
        <p:spPr>
          <a:xfrm>
            <a:off x="518450" y="2411850"/>
            <a:ext cx="8848500" cy="30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KEY TAKEAWAYS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1. GPU acceleration is essential: 4.7× faster than CPU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2. More GPUs ≠ Better: 2 GPUs optimal for 3.5B params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3. 4 GPUs failed: Poor accuracy (54%) due to reward degradation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4. Match GPUs to model size: Critical for RL training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675"/>
            <a:ext cx="9201376" cy="679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